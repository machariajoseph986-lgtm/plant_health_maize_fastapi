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maranjitghose/corn_pathology_ai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a8b9c2-5968-4472-b697-c8526afe7d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Meet the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Five owners across one CRISP-DM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0574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_WhatsApp Image 2026-09-16 at 14.25.11_73_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371600"/>
            <a:ext cx="1545336" cy="1545336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49224" y="1353312"/>
            <a:ext cx="1581912" cy="1581912"/>
          </a:xfrm>
          <a:prstGeom prst="ellipse">
            <a:avLst/>
          </a:prstGeom>
          <a:noFill/>
          <a:ln w="25400">
            <a:solidFill>
              <a:srgbClr val="ABE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3127248"/>
            <a:ext cx="182880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300" b="1">
                <a:solidFill>
                  <a:srgbClr val="105D3B"/>
                </a:solidFill>
                <a:latin typeface="Aptos"/>
              </a:defRPr>
            </a:pPr>
            <a:r>
              <a:t>Nicole Barmao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75887"/>
            <a:ext cx="178308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000" b="1">
                <a:solidFill>
                  <a:srgbClr val="123728"/>
                </a:solidFill>
                <a:latin typeface="Aptos"/>
              </a:defRPr>
            </a:pPr>
            <a:r>
              <a:t>Business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24528"/>
            <a:ext cx="178308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Team Member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4892040"/>
            <a:ext cx="1545336" cy="502920"/>
          </a:xfrm>
          <a:prstGeom prst="round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5D3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143000"/>
            <a:ext cx="20574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mp_IMG-20260726-WA0170(1)_323_1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512" y="1371600"/>
            <a:ext cx="1545336" cy="1545336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2935224" y="1353312"/>
            <a:ext cx="1581912" cy="1581912"/>
          </a:xfrm>
          <a:prstGeom prst="ellipse">
            <a:avLst/>
          </a:prstGeom>
          <a:noFill/>
          <a:ln w="25400">
            <a:solidFill>
              <a:srgbClr val="ABE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7208" y="3127248"/>
            <a:ext cx="182880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300" b="1">
                <a:solidFill>
                  <a:srgbClr val="105D3B"/>
                </a:solidFill>
                <a:latin typeface="Aptos"/>
              </a:defRPr>
            </a:pPr>
            <a:r>
              <a:t>Arnold Kirwa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675887"/>
            <a:ext cx="178308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000" b="1">
                <a:solidFill>
                  <a:srgbClr val="123728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224528"/>
            <a:ext cx="178308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D98B3A"/>
                </a:solidFill>
                <a:latin typeface="Aptos"/>
              </a:defRPr>
            </a:pPr>
            <a:r>
              <a:t>Scrum Master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53512" y="4892040"/>
            <a:ext cx="1545336" cy="502920"/>
          </a:xfrm>
          <a:prstGeom prst="round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5D3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1143000"/>
            <a:ext cx="20574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mp_1000042591_573_1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1371600"/>
            <a:ext cx="1545336" cy="1545336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5221224" y="1353312"/>
            <a:ext cx="1581912" cy="1581912"/>
          </a:xfrm>
          <a:prstGeom prst="ellipse">
            <a:avLst/>
          </a:prstGeom>
          <a:noFill/>
          <a:ln w="25400">
            <a:solidFill>
              <a:srgbClr val="ABE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208" y="3127248"/>
            <a:ext cx="182880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300" b="1">
                <a:solidFill>
                  <a:srgbClr val="105D3B"/>
                </a:solidFill>
                <a:latin typeface="Aptos"/>
              </a:defRPr>
            </a:pPr>
            <a:r>
              <a:t>Johnson Mwau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675887"/>
            <a:ext cx="178308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000" b="1">
                <a:solidFill>
                  <a:srgbClr val="123728"/>
                </a:solidFill>
                <a:latin typeface="Aptos"/>
              </a:defRPr>
            </a:pPr>
            <a:r>
              <a:t>Modeling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224528"/>
            <a:ext cx="178308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Team Member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39512" y="4892040"/>
            <a:ext cx="1545336" cy="502920"/>
          </a:xfrm>
          <a:prstGeom prst="round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5D3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1143000"/>
            <a:ext cx="20574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tmp_WhatsApp Image 2026-09-16 at 14.26.38_823_1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2" y="1371600"/>
            <a:ext cx="1545336" cy="1545336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7507224" y="1353312"/>
            <a:ext cx="1581912" cy="1581912"/>
          </a:xfrm>
          <a:prstGeom prst="ellipse">
            <a:avLst/>
          </a:prstGeom>
          <a:noFill/>
          <a:ln w="25400">
            <a:solidFill>
              <a:srgbClr val="ABE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208" y="3127248"/>
            <a:ext cx="182880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300" b="1">
                <a:solidFill>
                  <a:srgbClr val="105D3B"/>
                </a:solidFill>
                <a:latin typeface="Aptos"/>
              </a:defRPr>
            </a:pPr>
            <a:r>
              <a:t>Malvin Kiprop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675887"/>
            <a:ext cx="178308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000" b="1">
                <a:solidFill>
                  <a:srgbClr val="123728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224528"/>
            <a:ext cx="178308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Team Member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25512" y="4892040"/>
            <a:ext cx="1545336" cy="502920"/>
          </a:xfrm>
          <a:prstGeom prst="round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5D3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55480" y="1143000"/>
            <a:ext cx="20574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tmp_1000042618_1072_15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1" y="1371600"/>
            <a:ext cx="1545336" cy="1545336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9793224" y="1353312"/>
            <a:ext cx="1581912" cy="1581912"/>
          </a:xfrm>
          <a:prstGeom prst="ellipse">
            <a:avLst/>
          </a:prstGeom>
          <a:noFill/>
          <a:ln w="25400">
            <a:solidFill>
              <a:srgbClr val="ABE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65207" y="3127248"/>
            <a:ext cx="182880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300" b="1">
                <a:solidFill>
                  <a:srgbClr val="105D3B"/>
                </a:solidFill>
                <a:latin typeface="Aptos"/>
              </a:defRPr>
            </a:pPr>
            <a:r>
              <a:t>Joseph Macharia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675887"/>
            <a:ext cx="178308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000" b="1">
                <a:solidFill>
                  <a:srgbClr val="123728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4224528"/>
            <a:ext cx="178308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D98B3A"/>
                </a:solidFill>
                <a:latin typeface="Aptos"/>
              </a:defRPr>
            </a:pPr>
            <a:r>
              <a:t>Project Manager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11511" y="4892040"/>
            <a:ext cx="1545336" cy="502920"/>
          </a:xfrm>
          <a:prstGeom prst="round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5D3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CRISP-DM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A complete six-step journey from the business need to a deployable decision-support system.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1417320"/>
            <a:ext cx="960120" cy="960120"/>
          </a:xfrm>
          <a:prstGeom prst="ellipse">
            <a:avLst/>
          </a:prstGeom>
          <a:solidFill>
            <a:srgbClr val="105D3B"/>
          </a:solidFill>
          <a:ln w="25400">
            <a:solidFill>
              <a:srgbClr val="ABE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450592"/>
            <a:ext cx="123444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05D3B"/>
                </a:solidFill>
                <a:latin typeface="Aptos"/>
              </a:defRPr>
            </a:pPr>
            <a:r>
              <a:t>Business</a:t>
            </a:r>
            <a:br/>
            <a:r>
              <a:t>Understanding</a:t>
            </a:r>
          </a:p>
        </p:txBody>
      </p:sp>
      <p:sp>
        <p:nvSpPr>
          <p:cNvPr id="9" name="Oval 8"/>
          <p:cNvSpPr/>
          <p:nvPr/>
        </p:nvSpPr>
        <p:spPr>
          <a:xfrm>
            <a:off x="790956" y="2852928"/>
            <a:ext cx="512064" cy="512064"/>
          </a:xfrm>
          <a:prstGeom prst="ellipse">
            <a:avLst/>
          </a:prstGeom>
          <a:solidFill>
            <a:srgbClr val="E7F2DC"/>
          </a:solidFill>
          <a:ln>
            <a:solidFill>
              <a:srgbClr val="105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5D3B"/>
                </a:solidFill>
                <a:latin typeface="Aptos"/>
              </a:defRPr>
            </a:pPr>
            <a:r>
              <a:t>BU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18488" y="1828800"/>
            <a:ext cx="658368" cy="256032"/>
          </a:xfrm>
          <a:prstGeom prst="rightArrow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87168" y="1417320"/>
            <a:ext cx="960120" cy="960120"/>
          </a:xfrm>
          <a:prstGeom prst="ellipse">
            <a:avLst/>
          </a:prstGeom>
          <a:solidFill>
            <a:srgbClr val="105D3B"/>
          </a:solidFill>
          <a:ln w="25400">
            <a:solidFill>
              <a:srgbClr val="ABE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450592"/>
            <a:ext cx="123444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05D3B"/>
                </a:solidFill>
                <a:latin typeface="Aptos"/>
              </a:defRPr>
            </a:pPr>
            <a:r>
              <a:t>Data</a:t>
            </a:r>
            <a:br/>
            <a:r>
              <a:t>Understanding</a:t>
            </a:r>
          </a:p>
        </p:txBody>
      </p:sp>
      <p:sp>
        <p:nvSpPr>
          <p:cNvPr id="13" name="Oval 12"/>
          <p:cNvSpPr/>
          <p:nvPr/>
        </p:nvSpPr>
        <p:spPr>
          <a:xfrm>
            <a:off x="2711196" y="2852928"/>
            <a:ext cx="512064" cy="512064"/>
          </a:xfrm>
          <a:prstGeom prst="ellipse">
            <a:avLst/>
          </a:prstGeom>
          <a:solidFill>
            <a:srgbClr val="E7F2DC"/>
          </a:solidFill>
          <a:ln>
            <a:solidFill>
              <a:srgbClr val="105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5D3B"/>
                </a:solidFill>
                <a:latin typeface="Aptos"/>
              </a:defRPr>
            </a:pPr>
            <a:r>
              <a:t>DU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38728" y="1828800"/>
            <a:ext cx="658368" cy="256032"/>
          </a:xfrm>
          <a:prstGeom prst="rightArrow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07408" y="1417320"/>
            <a:ext cx="960120" cy="960120"/>
          </a:xfrm>
          <a:prstGeom prst="ellipse">
            <a:avLst/>
          </a:prstGeom>
          <a:solidFill>
            <a:srgbClr val="105D3B"/>
          </a:solidFill>
          <a:ln w="25400">
            <a:solidFill>
              <a:srgbClr val="ABE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450592"/>
            <a:ext cx="123444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05D3B"/>
                </a:solidFill>
                <a:latin typeface="Aptos"/>
              </a:defRPr>
            </a:pPr>
            <a:r>
              <a:t>Data</a:t>
            </a:r>
            <a:br/>
            <a:r>
              <a:t>Preparation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631436" y="2852928"/>
            <a:ext cx="512064" cy="512064"/>
          </a:xfrm>
          <a:prstGeom prst="ellipse">
            <a:avLst/>
          </a:prstGeom>
          <a:solidFill>
            <a:srgbClr val="E7F2DC"/>
          </a:solidFill>
          <a:ln>
            <a:solidFill>
              <a:srgbClr val="105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5D3B"/>
                </a:solidFill>
                <a:latin typeface="Aptos"/>
              </a:defRPr>
            </a:pPr>
            <a:r>
              <a:t>DP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458968" y="1828800"/>
            <a:ext cx="658368" cy="256032"/>
          </a:xfrm>
          <a:prstGeom prst="rightArrow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8" y="1417320"/>
            <a:ext cx="960120" cy="960120"/>
          </a:xfrm>
          <a:prstGeom prst="ellipse">
            <a:avLst/>
          </a:prstGeom>
          <a:solidFill>
            <a:srgbClr val="105D3B"/>
          </a:solidFill>
          <a:ln w="25400">
            <a:solidFill>
              <a:srgbClr val="ABE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2450592"/>
            <a:ext cx="123444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05D3B"/>
                </a:solidFill>
                <a:latin typeface="Aptos"/>
              </a:defRPr>
            </a:pPr>
            <a:r>
              <a:t>Modeling</a:t>
            </a:r>
          </a:p>
        </p:txBody>
      </p:sp>
      <p:sp>
        <p:nvSpPr>
          <p:cNvPr id="21" name="Oval 20"/>
          <p:cNvSpPr/>
          <p:nvPr/>
        </p:nvSpPr>
        <p:spPr>
          <a:xfrm>
            <a:off x="6551676" y="2852928"/>
            <a:ext cx="512064" cy="512064"/>
          </a:xfrm>
          <a:prstGeom prst="ellipse">
            <a:avLst/>
          </a:prstGeom>
          <a:solidFill>
            <a:srgbClr val="E7F2DC"/>
          </a:solidFill>
          <a:ln>
            <a:solidFill>
              <a:srgbClr val="105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5D3B"/>
                </a:solidFill>
                <a:latin typeface="Aptos"/>
              </a:defRPr>
            </a:pPr>
            <a:r>
              <a:t>ML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379208" y="1828800"/>
            <a:ext cx="658368" cy="256032"/>
          </a:xfrm>
          <a:prstGeom prst="rightArrow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47888" y="1417320"/>
            <a:ext cx="960120" cy="960120"/>
          </a:xfrm>
          <a:prstGeom prst="ellipse">
            <a:avLst/>
          </a:prstGeom>
          <a:solidFill>
            <a:srgbClr val="105D3B"/>
          </a:solidFill>
          <a:ln w="25400">
            <a:solidFill>
              <a:srgbClr val="ABE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7" y="2450592"/>
            <a:ext cx="123444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05D3B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5" name="Oval 24"/>
          <p:cNvSpPr/>
          <p:nvPr/>
        </p:nvSpPr>
        <p:spPr>
          <a:xfrm>
            <a:off x="8471916" y="2852928"/>
            <a:ext cx="512064" cy="512064"/>
          </a:xfrm>
          <a:prstGeom prst="ellipse">
            <a:avLst/>
          </a:prstGeom>
          <a:solidFill>
            <a:srgbClr val="E7F2DC"/>
          </a:solidFill>
          <a:ln>
            <a:solidFill>
              <a:srgbClr val="105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5D3B"/>
                </a:solidFill>
                <a:latin typeface="Aptos"/>
              </a:defRPr>
            </a:pPr>
            <a:r>
              <a:t>EV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99448" y="1828800"/>
            <a:ext cx="658368" cy="256032"/>
          </a:xfrm>
          <a:prstGeom prst="rightArrow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68128" y="1417320"/>
            <a:ext cx="960120" cy="960120"/>
          </a:xfrm>
          <a:prstGeom prst="ellipse">
            <a:avLst/>
          </a:prstGeom>
          <a:solidFill>
            <a:srgbClr val="105D3B"/>
          </a:solidFill>
          <a:ln w="25400">
            <a:solidFill>
              <a:srgbClr val="ABE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0967" y="2450592"/>
            <a:ext cx="123444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05D3B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9" name="Oval 28"/>
          <p:cNvSpPr/>
          <p:nvPr/>
        </p:nvSpPr>
        <p:spPr>
          <a:xfrm>
            <a:off x="10392156" y="2852928"/>
            <a:ext cx="512064" cy="512064"/>
          </a:xfrm>
          <a:prstGeom prst="ellipse">
            <a:avLst/>
          </a:prstGeom>
          <a:solidFill>
            <a:srgbClr val="E7F2DC"/>
          </a:solidFill>
          <a:ln>
            <a:solidFill>
              <a:srgbClr val="105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5D3B"/>
                </a:solidFill>
                <a:latin typeface="Aptos"/>
              </a:defRPr>
            </a:pPr>
            <a:r>
              <a:t>DEP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3886200"/>
            <a:ext cx="1664208" cy="914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000" b="0">
                <a:solidFill>
                  <a:srgbClr val="566C5F"/>
                </a:solidFill>
                <a:latin typeface="Aptos"/>
              </a:defRPr>
            </a:pPr>
            <a:r>
              <a:t>Define the problem,</a:t>
            </a:r>
            <a:br/>
            <a:r>
              <a:t>objectives and value.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886200"/>
            <a:ext cx="1664208" cy="914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000" b="0">
                <a:solidFill>
                  <a:srgbClr val="566C5F"/>
                </a:solidFill>
                <a:latin typeface="Aptos"/>
              </a:defRPr>
            </a:pPr>
            <a:r>
              <a:t>Inspect images,</a:t>
            </a:r>
            <a:br/>
            <a:r>
              <a:t>classes and quality.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87952" y="3886200"/>
            <a:ext cx="1664208" cy="914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000" b="0">
                <a:solidFill>
                  <a:srgbClr val="566C5F"/>
                </a:solidFill>
                <a:latin typeface="Aptos"/>
              </a:defRPr>
            </a:pPr>
            <a:r>
              <a:t>Standardize, split,</a:t>
            </a:r>
            <a:br/>
            <a:r>
              <a:t>normalize and balance.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4" y="3886200"/>
            <a:ext cx="1664208" cy="914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000" b="0">
                <a:solidFill>
                  <a:srgbClr val="566C5F"/>
                </a:solidFill>
                <a:latin typeface="Aptos"/>
              </a:defRPr>
            </a:pPr>
            <a:r>
              <a:t>Train and compare</a:t>
            </a:r>
            <a:br/>
            <a:r>
              <a:t>candidate models.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3886200"/>
            <a:ext cx="1664208" cy="914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000" b="0">
                <a:solidFill>
                  <a:srgbClr val="566C5F"/>
                </a:solidFill>
                <a:latin typeface="Aptos"/>
              </a:defRPr>
            </a:pPr>
            <a:r>
              <a:t>Measure performance,</a:t>
            </a:r>
            <a:br/>
            <a:r>
              <a:t>errors and uncertainty.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3886200"/>
            <a:ext cx="1664208" cy="914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000" b="0">
                <a:solidFill>
                  <a:srgbClr val="566C5F"/>
                </a:solidFill>
                <a:latin typeface="Aptos"/>
              </a:defRPr>
            </a:pPr>
            <a:r>
              <a:t>Integrate the model</a:t>
            </a:r>
            <a:br/>
            <a:r>
              <a:t>into a usable workflow.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Business Understanding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Why the project matters, what it will deliver, and who benefits.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73152" cy="192024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39"/>
            <a:ext cx="333756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27631"/>
            <a:ext cx="3337560" cy="12984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Maize diseases can look visually similar. Lighting, leaf condition, image quality and disease severity can make identification difficult, delaying informed crop-management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097280"/>
            <a:ext cx="3566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097280"/>
            <a:ext cx="73152" cy="1920240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34439"/>
            <a:ext cx="32461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MAIN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27631"/>
            <a:ext cx="3246120" cy="12984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Develop and evaluate an image-based ML system that classifies maize leaf images into defined disease and healthy categories and supports useful plant-health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097280"/>
            <a:ext cx="374903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097280"/>
            <a:ext cx="73152" cy="1920240"/>
          </a:xfrm>
          <a:prstGeom prst="rect">
            <a:avLst/>
          </a:prstGeom>
          <a:solidFill>
            <a:srgbClr val="D9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234439"/>
            <a:ext cx="342899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BUSINESS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627631"/>
            <a:ext cx="3428999" cy="12984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1. Enable faster image-based screening.</a:t>
            </a:r>
            <a:br/>
            <a:r>
              <a:t>2. Provide confidence-aware decision support and relevant plant-health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24612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246120"/>
            <a:ext cx="73152" cy="196596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383279"/>
            <a:ext cx="333756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76472"/>
            <a:ext cx="3337560" cy="134416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A four-class image classifier using MobileNetV2 transfer learning, paired with confidence handling and a structured knowledge component.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24612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246120"/>
            <a:ext cx="73152" cy="1965960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383279"/>
            <a:ext cx="32461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PLANT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776472"/>
            <a:ext cx="3246120" cy="134416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Earlier recognition can help identify symptomatic leaves sooner, supporting timely attention before disease pressure becomes harder to manage.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24612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3246120"/>
            <a:ext cx="73152" cy="1965960"/>
          </a:xfrm>
          <a:prstGeom prst="rect">
            <a:avLst/>
          </a:prstGeom>
          <a:solidFill>
            <a:srgbClr val="D9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3383279"/>
            <a:ext cx="342899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PRODUCTION &amp; FARMER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776472"/>
            <a:ext cx="3428999" cy="134416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Better-informed field decisions can support crop monitoring, reduce avoidable inspection delays and give farmers an accessible second source of information.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From leaf symptoms to farm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The intended value chain is decision support—not a replacement for professional diagnosis.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4747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73152" cy="402336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31546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700" b="1">
                <a:solidFill>
                  <a:srgbClr val="105D3B"/>
                </a:solidFill>
                <a:latin typeface="Aptos"/>
              </a:defRPr>
            </a:pPr>
            <a:r>
              <a:t>1  PLANT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73352"/>
            <a:ext cx="3154679" cy="34015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0">
                <a:solidFill>
                  <a:srgbClr val="123728"/>
                </a:solidFill>
                <a:latin typeface="Aptos"/>
              </a:defRPr>
            </a:pPr>
            <a:r>
              <a:t>Disease symptoms can reduce healthy leaf area and affect the plant's ability to sustain photosynthesis and grain filling.</a:t>
            </a:r>
            <a:br/>
            <a:br/>
            <a:r>
              <a:t>The system focuses on early image-based screening within four supported classes.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4747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73152" cy="4023360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280160"/>
            <a:ext cx="31546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700" b="1">
                <a:solidFill>
                  <a:srgbClr val="105D3B"/>
                </a:solidFill>
                <a:latin typeface="Aptos"/>
              </a:defRPr>
            </a:pPr>
            <a:r>
              <a:t>2 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73352"/>
            <a:ext cx="3154679" cy="34015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0">
                <a:solidFill>
                  <a:srgbClr val="123728"/>
                </a:solidFill>
                <a:latin typeface="Aptos"/>
              </a:defRPr>
            </a:pPr>
            <a:r>
              <a:t>Earlier visibility of potential disease can support more timely scouting, prioritization and follow-up.</a:t>
            </a:r>
            <a:br/>
            <a:br/>
            <a:r>
              <a:t>The model's outputs should be interpreted alongside field context and uncertainty.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143000"/>
            <a:ext cx="34747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143000"/>
            <a:ext cx="73152" cy="4023360"/>
          </a:xfrm>
          <a:prstGeom prst="rect">
            <a:avLst/>
          </a:prstGeom>
          <a:solidFill>
            <a:srgbClr val="D9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1280160"/>
            <a:ext cx="31546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700" b="1">
                <a:solidFill>
                  <a:srgbClr val="105D3B"/>
                </a:solidFill>
                <a:latin typeface="Aptos"/>
              </a:defRPr>
            </a:pPr>
            <a:r>
              <a:t>3  FARMERS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1673352"/>
            <a:ext cx="3154679" cy="34015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0">
                <a:solidFill>
                  <a:srgbClr val="123728"/>
                </a:solidFill>
                <a:latin typeface="Aptos"/>
              </a:defRPr>
            </a:pPr>
            <a:r>
              <a:t>A simple image workflow can make preliminary screening more accessible where expert support is not immediately available.</a:t>
            </a:r>
            <a:br/>
            <a:br/>
            <a:r>
              <a:t>Outputs are decision-support signals, not guaranteed diagnoses.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1088136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05D3B"/>
                </a:solidFill>
                <a:latin typeface="Aptos"/>
              </a:defRPr>
            </a:pPr>
            <a:r>
              <a:t>VALUE CHAIN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806440"/>
            <a:ext cx="1737360" cy="502920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Photo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441448" y="5934456"/>
            <a:ext cx="384048" cy="256032"/>
          </a:xfrm>
          <a:prstGeom prst="rightArrow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98648" y="5806440"/>
            <a:ext cx="1737360" cy="502920"/>
          </a:xfrm>
          <a:prstGeom prst="round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5D3B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654296" y="5934456"/>
            <a:ext cx="384048" cy="256032"/>
          </a:xfrm>
          <a:prstGeom prst="rightArrow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11496" y="5806440"/>
            <a:ext cx="1737360" cy="502920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Confidence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867144" y="5934456"/>
            <a:ext cx="384048" cy="256032"/>
          </a:xfrm>
          <a:prstGeom prst="rightArrow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5806440"/>
            <a:ext cx="1737360" cy="502920"/>
          </a:xfrm>
          <a:prstGeom prst="round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5D3B"/>
                </a:solidFill>
                <a:latin typeface="Aptos"/>
              </a:defRPr>
            </a:pPr>
            <a:r>
              <a:t>Information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79992" y="5934456"/>
            <a:ext cx="384048" cy="256032"/>
          </a:xfrm>
          <a:prstGeom prst="rightArrow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37192" y="5806440"/>
            <a:ext cx="1737360" cy="502920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Action / follow-up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Data Understanding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Source, scale and structure of the verified working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16152"/>
            <a:ext cx="19659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105D3B"/>
                </a:solidFill>
                <a:latin typeface="Aptos"/>
              </a:defRPr>
            </a:pPr>
            <a:r>
              <a:t>4,184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19659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verified / usable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09728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16152"/>
            <a:ext cx="19659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ABE23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664207"/>
            <a:ext cx="19659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classes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09728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1216152"/>
            <a:ext cx="19659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D98B3A"/>
                </a:solidFill>
                <a:latin typeface="Aptos"/>
              </a:defRPr>
            </a:pPr>
            <a:r>
              <a:t>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1664207"/>
            <a:ext cx="19659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validation images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09728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216152"/>
            <a:ext cx="19659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105D3B"/>
                </a:solidFill>
                <a:latin typeface="Aptos"/>
              </a:defRPr>
            </a:pPr>
            <a:r>
              <a:t>628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664207"/>
            <a:ext cx="19659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test images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09728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1216152"/>
            <a:ext cx="19659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ABE237"/>
                </a:solidFill>
                <a:latin typeface="Aptos"/>
              </a:defRPr>
            </a:pPr>
            <a:r>
              <a:t>2,928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1664207"/>
            <a:ext cx="19659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training images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560320"/>
            <a:ext cx="53949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560320"/>
            <a:ext cx="73152" cy="242316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97479"/>
            <a:ext cx="50749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DATASET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090672"/>
            <a:ext cx="5074920" cy="180136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GitHub: smaranjitghose/corn_pathology_ai</a:t>
            </a:r>
            <a:br/>
            <a:br/>
            <a:r>
              <a:t>Project / dataset reference dates to around 2020 (~6 years ago).</a:t>
            </a:r>
            <a:br/>
            <a:br/>
            <a:r>
              <a:t>The repository describes analysis of deep-learning architectures for corn leaf disease detection.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291840"/>
            <a:ext cx="493776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100" b="1">
                <a:solidFill>
                  <a:srgbClr val="105D3B"/>
                </a:solidFill>
                <a:latin typeface="Aptos"/>
              </a:defRPr>
            </a:pPr>
            <a:r>
              <a:rPr>
                <a:hlinkClick r:id="rId2"/>
              </a:rPr>
              <a:t>github.com/smaranjitghose/corn_pathology_ai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560320"/>
            <a:ext cx="54406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2560320"/>
            <a:ext cx="73152" cy="2423160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697479"/>
            <a:ext cx="512064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FOUR CLASSES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090672"/>
            <a:ext cx="5120640" cy="180136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Blight  •  Common Rust  •  Gray Leaf Spot  •  Healthy</a:t>
            </a:r>
            <a:br/>
            <a:br/>
            <a:r>
              <a:t>The project uses a single-label multiclass classification setup. Gray Leaf Spot is the smallest class in the training set, motivating class-weighting during model training.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25780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200" b="1">
                <a:solidFill>
                  <a:srgbClr val="105D3B"/>
                </a:solidFill>
                <a:latin typeface="Aptos"/>
              </a:defRPr>
            </a:pPr>
            <a:r>
              <a:t>Working split used throughout model experiments: 2,928 train  •  628 validation  •  628 test  •  stratified by class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Data Understanding — class distribution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The four classes are visible at a glance; the imbalance is important for modeling.</a:t>
            </a:r>
          </a:p>
        </p:txBody>
      </p:sp>
      <p:pic>
        <p:nvPicPr>
          <p:cNvPr id="7" name="Picture 6" descr="tmp_image2_55_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6537960" cy="3886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097280"/>
            <a:ext cx="4343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69480" y="1097280"/>
            <a:ext cx="73152" cy="105156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234439"/>
            <a:ext cx="402336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BLIGHT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627631"/>
            <a:ext cx="4023360" cy="42976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1,144 images in the cleaned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2286000"/>
            <a:ext cx="4343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2286000"/>
            <a:ext cx="73152" cy="1051560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2423160"/>
            <a:ext cx="402336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COMMON 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816352"/>
            <a:ext cx="4023360" cy="42976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1,306 images — largest 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3474720"/>
            <a:ext cx="4343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3474720"/>
            <a:ext cx="73152" cy="1051560"/>
          </a:xfrm>
          <a:prstGeom prst="rect">
            <a:avLst/>
          </a:prstGeom>
          <a:solidFill>
            <a:srgbClr val="D9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611879"/>
            <a:ext cx="402336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GRAY LEAF SPOT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005072"/>
            <a:ext cx="4023360" cy="42976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572 images — smallest 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4663440"/>
            <a:ext cx="4343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80" y="4663440"/>
            <a:ext cx="73152" cy="105156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4800600"/>
            <a:ext cx="402336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HEALTHY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193792"/>
            <a:ext cx="4023360" cy="42976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1,162 images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12080"/>
            <a:ext cx="640080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566C5F"/>
                </a:solidFill>
                <a:latin typeface="Aptos"/>
              </a:defRPr>
            </a:pPr>
            <a:r>
              <a:t>INSIGHT  •  Common Rust is the largest class, while Gray Leaf Spot is the smallest. The imbalance is carried into stratified splits and addressed during training with class weights.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Data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Exact preparation figures from the notebook, kept inside the blocks for quick reading.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25295"/>
            <a:ext cx="30632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1">
                <a:solidFill>
                  <a:srgbClr val="105D3B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536192"/>
            <a:ext cx="306324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2000" b="1">
                <a:solidFill>
                  <a:srgbClr val="105D3B"/>
                </a:solidFill>
                <a:latin typeface="Aptos"/>
              </a:defRPr>
            </a:pPr>
            <a:r>
              <a:t>256 × 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29967"/>
            <a:ext cx="306324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Custom CNN input</a:t>
            </a:r>
            <a:br/>
            <a:r>
              <a:t>320 × 320 for Tuned CNN + MobileNetV2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097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225295"/>
            <a:ext cx="30632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1">
                <a:solidFill>
                  <a:srgbClr val="105D3B"/>
                </a:solidFill>
                <a:latin typeface="Aptos"/>
              </a:defRPr>
            </a:pPr>
            <a:r>
              <a:t>RGB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536192"/>
            <a:ext cx="306324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2000" b="1">
                <a:solidFill>
                  <a:srgbClr val="ABE237"/>
                </a:solidFill>
                <a:latin typeface="Aptos"/>
              </a:defRPr>
            </a:pPr>
            <a:r>
              <a:t>4,184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2029967"/>
            <a:ext cx="306324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4,179 RGB • 4 RGBA • 1 CMYK</a:t>
            </a:r>
            <a:br/>
            <a:r>
              <a:t>→ all standardized to RGB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097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1225295"/>
            <a:ext cx="30632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1">
                <a:solidFill>
                  <a:srgbClr val="105D3B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1536192"/>
            <a:ext cx="306324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2000" b="1">
                <a:solidFill>
                  <a:srgbClr val="D98B3A"/>
                </a:solidFill>
                <a:latin typeface="Aptos"/>
              </a:defRPr>
            </a:pPr>
            <a:r>
              <a:t>[0,1]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2029967"/>
            <a:ext cx="306324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Custom CNNs: pixel / 255</a:t>
            </a:r>
            <a:br/>
            <a:r>
              <a:t>MobileNetV2: approximately [−1,1]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1546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282696"/>
            <a:ext cx="30632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1">
                <a:solidFill>
                  <a:srgbClr val="105D3B"/>
                </a:solidFill>
                <a:latin typeface="Aptos"/>
              </a:defRPr>
            </a:pPr>
            <a:r>
              <a:t>AUGMENT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593592"/>
            <a:ext cx="306324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2000" b="1">
                <a:solidFill>
                  <a:srgbClr val="105D3B"/>
                </a:solidFill>
                <a:latin typeface="Aptos"/>
              </a:defRPr>
            </a:pPr>
            <a:r>
              <a:t>TRAIN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087368"/>
            <a:ext cx="306324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Flip • rotation 0.08 • zoom 0.10</a:t>
            </a:r>
            <a:br/>
            <a:r>
              <a:t>contrast 0.10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1546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3282696"/>
            <a:ext cx="30632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1">
                <a:solidFill>
                  <a:srgbClr val="105D3B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3593592"/>
            <a:ext cx="306324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2000" b="1">
                <a:solidFill>
                  <a:srgbClr val="ABE237"/>
                </a:solidFill>
                <a:latin typeface="Aptos"/>
              </a:defRPr>
            </a:pPr>
            <a:r>
              <a:t>2,928 / 628 / 628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4087368"/>
            <a:ext cx="306324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Train / validation / test</a:t>
            </a:r>
            <a:br/>
            <a:r>
              <a:t>stratified and held-out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9560" y="31546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4152" y="3282696"/>
            <a:ext cx="30632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1">
                <a:solidFill>
                  <a:srgbClr val="105D3B"/>
                </a:solidFill>
                <a:latin typeface="Aptos"/>
              </a:defRPr>
            </a:pPr>
            <a:r>
              <a:t>BALANCE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4152" y="3593592"/>
            <a:ext cx="306324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2000" b="1">
                <a:solidFill>
                  <a:srgbClr val="D98B3A"/>
                </a:solidFill>
                <a:latin typeface="Aptos"/>
              </a:defRPr>
            </a:pPr>
            <a:r>
              <a:t>Gray Leaf Spot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4087368"/>
            <a:ext cx="306324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400 training images • 13.66%</a:t>
            </a:r>
            <a:br/>
            <a:r>
              <a:t>class weight = 1.830000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257800"/>
            <a:ext cx="1097280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200" b="1">
                <a:solidFill>
                  <a:srgbClr val="105D3B"/>
                </a:solidFill>
                <a:latin typeface="Aptos"/>
              </a:defRPr>
            </a:pPr>
            <a:r>
              <a:t>Leakage control: split first → augment training only → keep validation and test unchanged.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Three controlled experiments were compared using the same held-out test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246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73152" cy="315468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29260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01  CUSTOM 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64792"/>
            <a:ext cx="2926079" cy="2532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256×256 RGB</a:t>
            </a:r>
            <a:br/>
            <a:r>
              <a:t>Training augmentation + class weights</a:t>
            </a:r>
            <a:br/>
            <a:r>
              <a:t>Purpose: establish a reference.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234440"/>
            <a:ext cx="3246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1234440"/>
            <a:ext cx="73152" cy="3154680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371600"/>
            <a:ext cx="29260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02  TUNED CUSTOM 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764792"/>
            <a:ext cx="2926079" cy="2532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320×320 RGB</a:t>
            </a:r>
            <a:br/>
            <a:r>
              <a:t>Moderate augmentation + class weights</a:t>
            </a:r>
            <a:br/>
            <a:r>
              <a:t>Purpose: test controlled refinement.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234440"/>
            <a:ext cx="3246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1234440"/>
            <a:ext cx="73152" cy="3154680"/>
          </a:xfrm>
          <a:prstGeom prst="rect">
            <a:avLst/>
          </a:prstGeom>
          <a:solidFill>
            <a:srgbClr val="D9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1371600"/>
            <a:ext cx="29260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03  MOBILENETV2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19" y="1764792"/>
            <a:ext cx="2926079" cy="2532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320×320 RGB</a:t>
            </a:r>
            <a:br/>
            <a:r>
              <a:t>ImageNet-pretrained + fine-tuning</a:t>
            </a:r>
            <a:br/>
            <a:r>
              <a:t>Purpose: test transfer learning.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54880"/>
            <a:ext cx="1097280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200" b="1">
                <a:solidFill>
                  <a:srgbClr val="105D3B"/>
                </a:solidFill>
                <a:latin typeface="Aptos"/>
              </a:defRPr>
            </a:pPr>
            <a:r>
              <a:t>Experiment logic  →  Baseline → controlled refinement → transfer learning → fine-tuning. All models use the same authoritative 628-image test set.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Model comparison — visual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Accuracy and macro F1 on the same held-out test set.</a:t>
            </a:r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754380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1430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143000"/>
            <a:ext cx="73152" cy="114300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280160"/>
            <a:ext cx="29260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STRONGEST OVERALL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673352"/>
            <a:ext cx="2926079" cy="52120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MobileNetV2 Stage 2</a:t>
            </a:r>
            <a:br/>
            <a:r>
              <a:t>94.43% accuracy • 92.97% macro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5146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514600"/>
            <a:ext cx="73152" cy="1143000"/>
          </a:xfrm>
          <a:prstGeom prst="rect">
            <a:avLst/>
          </a:prstGeom>
          <a:solidFill>
            <a:srgbClr val="D9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2651760"/>
            <a:ext cx="29260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NEGATIVE EXPERIMENT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044952"/>
            <a:ext cx="2926079" cy="52120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Tuned CNN fell to 89.01%</a:t>
            </a:r>
            <a:br/>
            <a:r>
              <a:t>vs 93.63% baseline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8862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3886200"/>
            <a:ext cx="73152" cy="1143000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4023360"/>
            <a:ext cx="29260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READING THE VIZ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4416552"/>
            <a:ext cx="2926079" cy="52120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Fine-tuning improved the pretrained model from Stage 1 to Stage 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8640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0">
                <a:solidFill>
                  <a:srgbClr val="566C5F"/>
                </a:solidFill>
                <a:latin typeface="Aptos"/>
              </a:defRPr>
            </a:pPr>
            <a:r>
              <a:t>Interpretation  •  The final selection was based on overall performance plus class-level behavior and the difficult Blight ↔ Gray Leaf Spot boundary.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Custom CNN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The reference model establishes the starting point for later experiments.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16152"/>
            <a:ext cx="17373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105D3B"/>
                </a:solidFill>
                <a:latin typeface="Aptos"/>
              </a:defRPr>
            </a:pPr>
            <a:r>
              <a:t>93.63%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17373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09728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216152"/>
            <a:ext cx="17373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ABE237"/>
                </a:solidFill>
                <a:latin typeface="Aptos"/>
              </a:defRPr>
            </a:pPr>
            <a:r>
              <a:t>92.32%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64207"/>
            <a:ext cx="17373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09728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79" y="1216152"/>
            <a:ext cx="17373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105D3B"/>
                </a:solidFill>
                <a:latin typeface="Aptos"/>
              </a:defRPr>
            </a:pPr>
            <a:r>
              <a:t>588 / 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1664207"/>
            <a:ext cx="17373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correct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09728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216152"/>
            <a:ext cx="17373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D98B3A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664207"/>
            <a:ext cx="17373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Blight ↔ Gray errors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60604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606040"/>
            <a:ext cx="73152" cy="214884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743200"/>
            <a:ext cx="493776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WHAT WORKED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136392"/>
            <a:ext cx="4937760" cy="1527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0">
                <a:solidFill>
                  <a:srgbClr val="123728"/>
                </a:solidFill>
                <a:latin typeface="Aptos"/>
              </a:defRPr>
            </a:pPr>
            <a:r>
              <a:t>Common Rust and Healthy were particularly strong in the baseline evaluation.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60604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2606040"/>
            <a:ext cx="73152" cy="2148840"/>
          </a:xfrm>
          <a:prstGeom prst="rect">
            <a:avLst/>
          </a:prstGeom>
          <a:solidFill>
            <a:srgbClr val="D9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743200"/>
            <a:ext cx="516636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WHERE IT STRUGGLED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136392"/>
            <a:ext cx="5166360" cy="1527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0">
                <a:solidFill>
                  <a:srgbClr val="123728"/>
                </a:solidFill>
                <a:latin typeface="Aptos"/>
              </a:defRPr>
            </a:pPr>
            <a:r>
              <a:t>20 Blight images were predicted as Gray Leaf Spot and 8 Gray Leaf Spot images were predicted as Blight — 28 combined boundary errors.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16636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0">
                <a:solidFill>
                  <a:srgbClr val="566C5F"/>
                </a:solidFill>
                <a:latin typeface="Aptos"/>
              </a:defRPr>
            </a:pPr>
            <a:r>
              <a:t>Interpretation  •  A strong baseline, but the Blight ↔ Gray Leaf Spot boundary became the key area to improve.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Refined CNN — a useful negative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The refinement tested higher resolution and moderate augmentation.</a:t>
            </a:r>
          </a:p>
        </p:txBody>
      </p:sp>
      <p:pic>
        <p:nvPicPr>
          <p:cNvPr id="7" name="Picture 6" descr="refined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766560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18872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307592"/>
            <a:ext cx="155448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D98B3A"/>
                </a:solidFill>
                <a:latin typeface="Aptos"/>
              </a:defRPr>
            </a:pPr>
            <a:r>
              <a:t>89.01%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55648"/>
            <a:ext cx="155448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18872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19" y="1307592"/>
            <a:ext cx="155448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D98B3A"/>
                </a:solidFill>
                <a:latin typeface="Aptos"/>
              </a:defRPr>
            </a:pPr>
            <a:r>
              <a:t>86.83%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19" y="1755648"/>
            <a:ext cx="155448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514600"/>
            <a:ext cx="3657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514600"/>
            <a:ext cx="73152" cy="1463040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19" y="2651760"/>
            <a:ext cx="333756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400" b="1">
                <a:solidFill>
                  <a:srgbClr val="105D3B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3044952"/>
            <a:ext cx="3337560" cy="8412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100" b="0">
                <a:solidFill>
                  <a:srgbClr val="123728"/>
                </a:solidFill>
                <a:latin typeface="Aptos"/>
              </a:defRPr>
            </a:pPr>
            <a:r>
              <a:t>Input size 256×256 → 320×320, with moderate augmentation.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160520"/>
            <a:ext cx="3657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4160520"/>
            <a:ext cx="73152" cy="1463040"/>
          </a:xfrm>
          <a:prstGeom prst="rect">
            <a:avLst/>
          </a:prstGeom>
          <a:solidFill>
            <a:srgbClr val="D9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19" y="4297680"/>
            <a:ext cx="333756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400" b="1">
                <a:solidFill>
                  <a:srgbClr val="105D3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4690872"/>
            <a:ext cx="3337560" cy="8412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100" b="0">
                <a:solidFill>
                  <a:srgbClr val="123728"/>
                </a:solidFill>
                <a:latin typeface="Aptos"/>
              </a:defRPr>
            </a:pPr>
            <a:r>
              <a:t>Accuracy fell 4.62 pp and Blight ↔ Gray errors increased from 28 to 47. The experiment informed the move toward transfer learning.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Transfer learning + fine-tuning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The pretrained MobileNetV2 backbone was tested in two stages.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5394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73152" cy="356616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50749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700" b="1">
                <a:solidFill>
                  <a:srgbClr val="105D3B"/>
                </a:solidFill>
                <a:latin typeface="Aptos"/>
              </a:defRPr>
            </a:pPr>
            <a:r>
              <a:t>STAGE 1 — FROZEN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73352"/>
            <a:ext cx="5074920" cy="29443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0">
                <a:solidFill>
                  <a:srgbClr val="123728"/>
                </a:solidFill>
                <a:latin typeface="Aptos"/>
              </a:defRPr>
            </a:pPr>
            <a:r>
              <a:t>ImageNet-pretrained MobileNetV2 backbone kept frozen.</a:t>
            </a:r>
            <a:br/>
            <a:br/>
            <a:r>
              <a:t>92.20% test accuracy</a:t>
            </a:r>
            <a:br/>
            <a:r>
              <a:t>90.30% macro F1</a:t>
            </a:r>
            <a:br/>
            <a:br/>
            <a:r>
              <a:t>Competitive, but below the Custom CNN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43000"/>
            <a:ext cx="5394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73152" cy="3566160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80160"/>
            <a:ext cx="50749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700" b="1">
                <a:solidFill>
                  <a:srgbClr val="105D3B"/>
                </a:solidFill>
                <a:latin typeface="Aptos"/>
              </a:defRPr>
            </a:pPr>
            <a:r>
              <a:t>STAGE 2 — FINE-TUNED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73352"/>
            <a:ext cx="5074920" cy="29443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0">
                <a:solidFill>
                  <a:srgbClr val="123728"/>
                </a:solidFill>
                <a:latin typeface="Aptos"/>
              </a:defRPr>
            </a:pPr>
            <a:r>
              <a:t>Selected later layers unfrozen at a lower learning rate; BatchNorm remained frozen.</a:t>
            </a:r>
            <a:br/>
            <a:br/>
            <a:r>
              <a:t>94.43% test accuracy</a:t>
            </a:r>
            <a:br/>
            <a:r>
              <a:t>92.97% macro F1</a:t>
            </a:r>
            <a:br/>
            <a:br/>
            <a:r>
              <a:t>593 / 628 correct; 35 misclassified.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074920"/>
            <a:ext cx="1097280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200" b="1">
                <a:solidFill>
                  <a:srgbClr val="105D3B"/>
                </a:solidFill>
                <a:latin typeface="Aptos"/>
              </a:defRPr>
            </a:pPr>
            <a:r>
              <a:t>Key change  •  Fine-tuning improved accuracy by 2.23 percentage points from Stage 1 and reduced the principal Blight ↔ Gray boundary to 23 errors.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The main error boundary — Blight ↔ Gray Leaf Spot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The same difficult pair appears across the experiments.</a:t>
            </a:r>
          </a:p>
        </p:txBody>
      </p:sp>
      <p:pic>
        <p:nvPicPr>
          <p:cNvPr id="7" name="Picture 6" descr="boundary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6400800" cy="3886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234440"/>
            <a:ext cx="1508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19" y="1353312"/>
            <a:ext cx="132588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105D3B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1801368"/>
            <a:ext cx="132588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234440"/>
            <a:ext cx="1508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353312"/>
            <a:ext cx="132588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D98B3A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801368"/>
            <a:ext cx="132588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refined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56032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2679191"/>
            <a:ext cx="3063239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ABE237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3127248"/>
            <a:ext cx="3063239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MobileNetV2 Stage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977639"/>
            <a:ext cx="4160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3977639"/>
            <a:ext cx="73152" cy="128016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59" y="4114800"/>
            <a:ext cx="384048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400" b="1">
                <a:solidFill>
                  <a:srgbClr val="105D3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4507992"/>
            <a:ext cx="3840480" cy="65836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100" b="0">
                <a:solidFill>
                  <a:srgbClr val="123728"/>
                </a:solidFill>
                <a:latin typeface="Aptos"/>
              </a:defRPr>
            </a:pPr>
            <a:r>
              <a:t>Stage 2 reduced the combined boundary from 28 to 23 errors — five fewer than the baseline — but visual overlap remains.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Confidence &amp; uncertainty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A good classifier should know when not to sound certain.</a:t>
            </a:r>
          </a:p>
        </p:txBody>
      </p:sp>
      <p:pic>
        <p:nvPicPr>
          <p:cNvPr id="7" name="Picture 6" descr="tmp_image8_55_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649224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14300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261872"/>
            <a:ext cx="164592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105D3B"/>
                </a:solidFill>
                <a:latin typeface="Aptos"/>
              </a:defRPr>
            </a:pPr>
            <a: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709928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114300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1261872"/>
            <a:ext cx="164592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ABE237"/>
                </a:solidFill>
                <a:latin typeface="Aptos"/>
              </a:defRPr>
            </a:pPr>
            <a:r>
              <a:t>88.54%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709928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51460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633472"/>
            <a:ext cx="164592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D98B3A"/>
                </a:solidFill>
                <a:latin typeface="Aptos"/>
              </a:defRPr>
            </a:pPr>
            <a:r>
              <a:t>97.30%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081528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accepted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251460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633472"/>
            <a:ext cx="164592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105D3B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081528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uncertain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886200"/>
            <a:ext cx="3886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886200"/>
            <a:ext cx="73152" cy="137160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4023360"/>
            <a:ext cx="356616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400" b="1">
                <a:solidFill>
                  <a:srgbClr val="105D3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416552"/>
            <a:ext cx="3566160" cy="7498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100" b="0">
                <a:solidFill>
                  <a:srgbClr val="123728"/>
                </a:solidFill>
                <a:latin typeface="Aptos"/>
              </a:defRPr>
            </a:pPr>
            <a:r>
              <a:t>At 70%, 556/628 predictions are accepted and 72 are treated as uncertain. Higher thresholds improve accepted accuracy but reduce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Final model — class-level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Precision, recall and F1 reveal differences hidden by overall accuracy.</a:t>
            </a:r>
          </a:p>
        </p:txBody>
      </p:sp>
      <p:pic>
        <p:nvPicPr>
          <p:cNvPr id="7" name="Picture 6" descr="final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7863840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05156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051560"/>
            <a:ext cx="73152" cy="123444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188719"/>
            <a:ext cx="283464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HEALTHY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581912"/>
            <a:ext cx="2834640" cy="6126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100.00% precision</a:t>
            </a:r>
            <a:br/>
            <a:r>
              <a:t>99.43% recall • 99.71%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51460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58200" y="2514600"/>
            <a:ext cx="73152" cy="1234440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651760"/>
            <a:ext cx="283464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COMMON 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044952"/>
            <a:ext cx="2834640" cy="6126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96.48% precision</a:t>
            </a:r>
            <a:br/>
            <a:r>
              <a:t>97.96% recall • 97.22% 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977639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200" y="3977639"/>
            <a:ext cx="73152" cy="1234440"/>
          </a:xfrm>
          <a:prstGeom prst="rect">
            <a:avLst/>
          </a:prstGeom>
          <a:solidFill>
            <a:srgbClr val="D9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4114800"/>
            <a:ext cx="283464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GRAY LEAF SPOT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507992"/>
            <a:ext cx="2834640" cy="6126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000" b="0">
                <a:solidFill>
                  <a:srgbClr val="123728"/>
                </a:solidFill>
                <a:latin typeface="Aptos"/>
              </a:defRPr>
            </a:pPr>
            <a:r>
              <a:t>83.72% across all three metrics — weakest 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23560"/>
            <a:ext cx="10972800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0">
                <a:solidFill>
                  <a:srgbClr val="566C5F"/>
                </a:solidFill>
                <a:latin typeface="Aptos"/>
              </a:defRPr>
            </a:pPr>
            <a:r>
              <a:t>Viz summary  •  Healthy and Common Rust are highly consistent; Gray Leaf Spot remains the main class-level weakness.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Model Evaluation — final model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MobileNetV2 Transfer Learning Stage 2 on 628 previously unseen test images.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16152"/>
            <a:ext cx="1874519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105D3B"/>
                </a:solidFill>
                <a:latin typeface="Aptos"/>
              </a:defRPr>
            </a:pPr>
            <a:r>
              <a:t>94.43%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1874519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09728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216152"/>
            <a:ext cx="1874519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ABE237"/>
                </a:solidFill>
                <a:latin typeface="Aptos"/>
              </a:defRPr>
            </a:pPr>
            <a:r>
              <a:t>92.97%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64207"/>
            <a:ext cx="1874519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09728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79" y="1216152"/>
            <a:ext cx="1874519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D98B3A"/>
                </a:solidFill>
                <a:latin typeface="Aptos"/>
              </a:defRPr>
            </a:pPr>
            <a:r>
              <a:t>94.42%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1664207"/>
            <a:ext cx="1874519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weighted 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09728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216152"/>
            <a:ext cx="1874519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105D3B"/>
                </a:solidFill>
                <a:latin typeface="Aptos"/>
              </a:defRPr>
            </a:pPr>
            <a:r>
              <a:t>593 / 628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664207"/>
            <a:ext cx="1874519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correct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09728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216152"/>
            <a:ext cx="1874519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400" b="1">
                <a:solidFill>
                  <a:srgbClr val="D98B3A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1664207"/>
            <a:ext cx="1874519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900" b="1">
                <a:solidFill>
                  <a:srgbClr val="566C5F"/>
                </a:solidFill>
                <a:latin typeface="Aptos"/>
              </a:defRPr>
            </a:pPr>
            <a:r>
              <a:t>misclassified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651760"/>
            <a:ext cx="2834640" cy="457200"/>
          </a:xfrm>
          <a:prstGeom prst="rect">
            <a:avLst/>
          </a:prstGeom>
          <a:solidFill>
            <a:srgbClr val="105D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Class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2651760"/>
            <a:ext cx="1920240" cy="457200"/>
          </a:xfrm>
          <a:prstGeom prst="rect">
            <a:avLst/>
          </a:prstGeom>
          <a:solidFill>
            <a:srgbClr val="105D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651760"/>
            <a:ext cx="1920240" cy="457200"/>
          </a:xfrm>
          <a:prstGeom prst="rect">
            <a:avLst/>
          </a:prstGeom>
          <a:solidFill>
            <a:srgbClr val="105D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651760"/>
            <a:ext cx="1920240" cy="457200"/>
          </a:xfrm>
          <a:prstGeom prst="rect">
            <a:avLst/>
          </a:prstGeom>
          <a:solidFill>
            <a:srgbClr val="105D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08960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5D3B"/>
                </a:solidFill>
                <a:latin typeface="Aptos"/>
              </a:defRPr>
            </a:pPr>
            <a:r>
              <a:t>Blight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3108960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3728"/>
                </a:solidFill>
                <a:latin typeface="Aptos"/>
              </a:defRPr>
            </a:pPr>
            <a:r>
              <a:t>91.76%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3108960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3728"/>
                </a:solidFill>
                <a:latin typeface="Aptos"/>
              </a:defRPr>
            </a:pPr>
            <a:r>
              <a:t>90.70%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3108960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3728"/>
                </a:solidFill>
                <a:latin typeface="Aptos"/>
              </a:defRPr>
            </a:pPr>
            <a:r>
              <a:t>91.23%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84448"/>
            <a:ext cx="2834640" cy="475488"/>
          </a:xfrm>
          <a:prstGeom prst="rect">
            <a:avLst/>
          </a:prstGeom>
          <a:solidFill>
            <a:srgbClr val="E7F2DC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5D3B"/>
                </a:solidFill>
                <a:latin typeface="Aptos"/>
              </a:defRPr>
            </a:pPr>
            <a:r>
              <a:t>Common Rust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3584448"/>
            <a:ext cx="1920240" cy="475488"/>
          </a:xfrm>
          <a:prstGeom prst="rect">
            <a:avLst/>
          </a:prstGeom>
          <a:solidFill>
            <a:srgbClr val="E7F2DC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3728"/>
                </a:solidFill>
                <a:latin typeface="Aptos"/>
              </a:defRPr>
            </a:pPr>
            <a:r>
              <a:t>96.48%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3584448"/>
            <a:ext cx="1920240" cy="475488"/>
          </a:xfrm>
          <a:prstGeom prst="rect">
            <a:avLst/>
          </a:prstGeom>
          <a:solidFill>
            <a:srgbClr val="E7F2DC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3728"/>
                </a:solidFill>
                <a:latin typeface="Aptos"/>
              </a:defRPr>
            </a:pPr>
            <a:r>
              <a:t>97.96%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3584448"/>
            <a:ext cx="1920240" cy="475488"/>
          </a:xfrm>
          <a:prstGeom prst="rect">
            <a:avLst/>
          </a:prstGeom>
          <a:solidFill>
            <a:srgbClr val="E7F2DC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3728"/>
                </a:solidFill>
                <a:latin typeface="Aptos"/>
              </a:defRPr>
            </a:pPr>
            <a:r>
              <a:t>97.22%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059935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5D3B"/>
                </a:solidFill>
                <a:latin typeface="Aptos"/>
              </a:defRPr>
            </a:pPr>
            <a:r>
              <a:t>Gray Leaf Spot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4059935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3728"/>
                </a:solidFill>
                <a:latin typeface="Aptos"/>
              </a:defRPr>
            </a:pPr>
            <a:r>
              <a:t>83.72%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4059935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3728"/>
                </a:solidFill>
                <a:latin typeface="Aptos"/>
              </a:defRPr>
            </a:pPr>
            <a:r>
              <a:t>83.72%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78040" y="4059935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3728"/>
                </a:solidFill>
                <a:latin typeface="Aptos"/>
              </a:defRPr>
            </a:pPr>
            <a:r>
              <a:t>83.72%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535424"/>
            <a:ext cx="2834640" cy="475488"/>
          </a:xfrm>
          <a:prstGeom prst="rect">
            <a:avLst/>
          </a:prstGeom>
          <a:solidFill>
            <a:srgbClr val="E7F2DC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5D3B"/>
                </a:solidFill>
                <a:latin typeface="Aptos"/>
              </a:defRPr>
            </a:pPr>
            <a:r>
              <a:t>Healthy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4535424"/>
            <a:ext cx="1920240" cy="475488"/>
          </a:xfrm>
          <a:prstGeom prst="rect">
            <a:avLst/>
          </a:prstGeom>
          <a:solidFill>
            <a:srgbClr val="E7F2DC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3728"/>
                </a:solidFill>
                <a:latin typeface="Aptos"/>
              </a:defRPr>
            </a:pPr>
            <a:r>
              <a:t>100.00%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4535424"/>
            <a:ext cx="1920240" cy="475488"/>
          </a:xfrm>
          <a:prstGeom prst="rect">
            <a:avLst/>
          </a:prstGeom>
          <a:solidFill>
            <a:srgbClr val="E7F2DC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3728"/>
                </a:solidFill>
                <a:latin typeface="Aptos"/>
              </a:defRPr>
            </a:pPr>
            <a:r>
              <a:t>99.43%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78040" y="4535424"/>
            <a:ext cx="1920240" cy="475488"/>
          </a:xfrm>
          <a:prstGeom prst="rect">
            <a:avLst/>
          </a:prstGeom>
          <a:solidFill>
            <a:srgbClr val="E7F2DC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3728"/>
                </a:solidFill>
                <a:latin typeface="Aptos"/>
              </a:defRPr>
            </a:pPr>
            <a:r>
              <a:t>99.71%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2651760"/>
            <a:ext cx="3474720" cy="2359152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92440" y="2651760"/>
            <a:ext cx="73152" cy="2359152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19" y="2788920"/>
            <a:ext cx="31546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400" b="1">
                <a:solidFill>
                  <a:srgbClr val="105D3B"/>
                </a:solidFill>
                <a:latin typeface="Aptos"/>
              </a:defRPr>
            </a:pPr>
            <a:r>
              <a:t>EVALUATION SUMMARY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9" y="3182112"/>
            <a:ext cx="3154679" cy="1737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100" b="0">
                <a:solidFill>
                  <a:srgbClr val="123728"/>
                </a:solidFill>
                <a:latin typeface="Aptos"/>
              </a:defRPr>
            </a:pPr>
            <a:r>
              <a:t>• Strong overall performance on the held-out test set.</a:t>
            </a:r>
            <a:br/>
            <a:r>
              <a:t>• Healthy and Common Rust are strongest.</a:t>
            </a:r>
            <a:br/>
            <a:r>
              <a:t>• Gray Leaf Spot is weakest by F1.</a:t>
            </a:r>
            <a:br/>
            <a:r>
              <a:t>• Blight recall is 90.70%.</a:t>
            </a:r>
            <a:br/>
            <a:r>
              <a:t>• The remaining errors reinforce the need for confidence-aware use.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303520"/>
            <a:ext cx="1097280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0">
                <a:solidFill>
                  <a:srgbClr val="566C5F"/>
                </a:solidFill>
                <a:latin typeface="Aptos"/>
              </a:defRPr>
            </a:pPr>
            <a:r>
              <a:t>Interpretation  •  Overall accuracy is high, but class-level metrics identify where additional data and targeted analysis are still needed.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Sample disease images — visual distinction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DATA /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Two visually similar disease classes that matter for model interpretation.</a:t>
            </a:r>
          </a:p>
        </p:txBody>
      </p:sp>
      <p:pic>
        <p:nvPicPr>
          <p:cNvPr id="7" name="Picture 6" descr="tmp_image6_70_1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66360" cy="3429000"/>
          </a:xfrm>
          <a:prstGeom prst="rect">
            <a:avLst/>
          </a:prstGeom>
        </p:spPr>
      </p:pic>
      <p:pic>
        <p:nvPicPr>
          <p:cNvPr id="8" name="Picture 7" descr="tmp_image7_695_1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16636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754880"/>
            <a:ext cx="51663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700" b="1">
                <a:solidFill>
                  <a:srgbClr val="105D3B"/>
                </a:solidFill>
                <a:latin typeface="Aptos"/>
              </a:defRPr>
            </a:pPr>
            <a:r>
              <a:t>GRAY LEAF SPOT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516636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000" b="0">
                <a:solidFill>
                  <a:srgbClr val="566C5F"/>
                </a:solidFill>
                <a:latin typeface="Aptos"/>
              </a:defRPr>
            </a:pPr>
            <a:r>
              <a:t>Elongated tan / gray lesions can overlap visually with other leaf damage.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754880"/>
            <a:ext cx="51663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700" b="1">
                <a:solidFill>
                  <a:srgbClr val="105D3B"/>
                </a:solidFill>
                <a:latin typeface="Aptos"/>
              </a:defRPr>
            </a:pPr>
            <a:r>
              <a:t>COMMON 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5166360"/>
            <a:ext cx="516636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000" b="0">
                <a:solidFill>
                  <a:srgbClr val="566C5F"/>
                </a:solidFill>
                <a:latin typeface="Aptos"/>
              </a:defRPr>
            </a:pPr>
            <a:r>
              <a:t>Reddish-brown rust pustules create a different visual pattern on the leaf.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Structured plant-health knowledge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The classifier is paired with structured information so predictions can be followed by useful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291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73152" cy="356616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297180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600" b="1">
                <a:solidFill>
                  <a:srgbClr val="105D3B"/>
                </a:solidFill>
                <a:latin typeface="Aptos"/>
              </a:defRPr>
            </a:pPr>
            <a:r>
              <a:t>KNOWLEDGE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73352"/>
            <a:ext cx="2971800" cy="29443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0">
                <a:solidFill>
                  <a:srgbClr val="123728"/>
                </a:solidFill>
                <a:latin typeface="Aptos"/>
              </a:defRPr>
            </a:pPr>
            <a:r>
              <a:t>Disease</a:t>
            </a:r>
            <a:br/>
            <a:r>
              <a:t>Symptoms</a:t>
            </a:r>
            <a:br/>
            <a:r>
              <a:t>Conditions</a:t>
            </a:r>
            <a:br/>
            <a:r>
              <a:t>Pathogens</a:t>
            </a:r>
            <a:br/>
            <a:r>
              <a:t>Management</a:t>
            </a:r>
            <a:br/>
            <a:r>
              <a:t>Transmission</a:t>
            </a:r>
            <a:br/>
            <a:r>
              <a:t>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143000"/>
            <a:ext cx="3291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3152" cy="3566160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280160"/>
            <a:ext cx="297180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600" b="1">
                <a:solidFill>
                  <a:srgbClr val="105D3B"/>
                </a:solidFill>
                <a:latin typeface="Aptos"/>
              </a:defRPr>
            </a:pPr>
            <a:r>
              <a:t>WHY A DATABASE?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673352"/>
            <a:ext cx="2971800" cy="29443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0">
                <a:solidFill>
                  <a:srgbClr val="123728"/>
                </a:solidFill>
                <a:latin typeface="Aptos"/>
              </a:defRPr>
            </a:pPr>
            <a:r>
              <a:t>Keeps plant-health information separate from chatbot logic.</a:t>
            </a:r>
            <a:br/>
            <a:br/>
            <a:r>
              <a:t>Records can be updated and reused consistently across the application.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14300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1143000"/>
            <a:ext cx="73152" cy="3566160"/>
          </a:xfrm>
          <a:prstGeom prst="rect">
            <a:avLst/>
          </a:prstGeom>
          <a:solidFill>
            <a:srgbClr val="D9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1280160"/>
            <a:ext cx="36118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600" b="1">
                <a:solidFill>
                  <a:srgbClr val="105D3B"/>
                </a:solidFill>
                <a:latin typeface="Aptos"/>
              </a:defRPr>
            </a:pPr>
            <a:r>
              <a:t>SYSTEM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19" y="1673352"/>
            <a:ext cx="3611879" cy="29443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0">
                <a:solidFill>
                  <a:srgbClr val="123728"/>
                </a:solidFill>
                <a:latin typeface="Aptos"/>
              </a:defRPr>
            </a:pPr>
            <a:r>
              <a:t>Prediction → confidence check → structured information → chatbot response.</a:t>
            </a:r>
            <a:br/>
            <a:br/>
            <a:r>
              <a:t>Database connection details are supplied through environment variables rather than hard-coded credentials.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663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0">
                <a:solidFill>
                  <a:srgbClr val="566C5F"/>
                </a:solidFill>
                <a:latin typeface="Aptos"/>
              </a:defRPr>
            </a:pPr>
            <a:r>
              <a:t>Role of the knowledge component  •  add context to the classification while keeping the model output distinct from supporting information.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The deployment path connects image input, inference, uncertainty handling and plant-health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527048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05D3B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874519"/>
            <a:ext cx="164592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23728"/>
                </a:solidFill>
                <a:latin typeface="Aptos"/>
              </a:defRPr>
            </a:pPr>
            <a:r>
              <a:t>Upload / camera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13432" y="1847088"/>
            <a:ext cx="292608" cy="256032"/>
          </a:xfrm>
          <a:prstGeom prst="rightArrow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79192" y="132588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527048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05D3B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874519"/>
            <a:ext cx="164592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23728"/>
                </a:solidFill>
                <a:latin typeface="Aptos"/>
              </a:defRPr>
            </a:pPr>
            <a:r>
              <a:t>MobileNetV2 Stage 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81144" y="1847088"/>
            <a:ext cx="292608" cy="256032"/>
          </a:xfrm>
          <a:prstGeom prst="rightArrow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46904" y="132588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527048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05D3B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1874519"/>
            <a:ext cx="164592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23728"/>
                </a:solidFill>
                <a:latin typeface="Aptos"/>
              </a:defRPr>
            </a:pPr>
            <a:r>
              <a:t>Confidence check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848856" y="1847088"/>
            <a:ext cx="292608" cy="256032"/>
          </a:xfrm>
          <a:prstGeom prst="rightArrow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14616" y="132588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24344" y="1527048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05D3B"/>
                </a:solidFill>
                <a:latin typeface="Aptos"/>
              </a:defRPr>
            </a:pPr>
            <a: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44" y="1874519"/>
            <a:ext cx="164592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23728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116567" y="1847088"/>
            <a:ext cx="292608" cy="256032"/>
          </a:xfrm>
          <a:prstGeom prst="rightArrow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82328" y="132588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92055" y="1527048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05D3B"/>
                </a:solidFill>
                <a:latin typeface="Aptos"/>
              </a:defRPr>
            </a:pPr>
            <a:r>
              <a:t>INTERACTION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5" y="1874519"/>
            <a:ext cx="164592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1">
                <a:solidFill>
                  <a:srgbClr val="123728"/>
                </a:solidFill>
                <a:latin typeface="Aptos"/>
              </a:defRPr>
            </a:pPr>
            <a:r>
              <a:t>Chatbot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0632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063240"/>
            <a:ext cx="73152" cy="1920240"/>
          </a:xfrm>
          <a:prstGeom prst="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200400"/>
            <a:ext cx="31546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593592"/>
            <a:ext cx="3154679" cy="12984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FastAPI application</a:t>
            </a:r>
            <a:br/>
            <a:r>
              <a:t>CNN-based maize disease classification</a:t>
            </a:r>
            <a:br/>
            <a:r>
              <a:t>Image upload + camera capture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30632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0" y="3063240"/>
            <a:ext cx="73152" cy="1920240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3200400"/>
            <a:ext cx="31546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PUBLIC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3593592"/>
            <a:ext cx="3154679" cy="12984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Local application testing completed.</a:t>
            </a:r>
            <a:br/>
            <a:r>
              <a:t>Temporary Cloudflare Quick Tunnel used for public testing.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3063240"/>
            <a:ext cx="374903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18120" y="3063240"/>
            <a:ext cx="73152" cy="1920240"/>
          </a:xfrm>
          <a:prstGeom prst="rect">
            <a:avLst/>
          </a:prstGeom>
          <a:solidFill>
            <a:srgbClr val="D9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3200400"/>
            <a:ext cx="342899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500" b="1">
                <a:solidFill>
                  <a:srgbClr val="105D3B"/>
                </a:solidFill>
                <a:latin typeface="Aptos"/>
              </a:defRPr>
            </a:pPr>
            <a:r>
              <a:t>DEPLOYMENT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593592"/>
            <a:ext cx="3428999" cy="12984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200" b="0">
                <a:solidFill>
                  <a:srgbClr val="123728"/>
                </a:solidFill>
                <a:latin typeface="Aptos"/>
              </a:defRPr>
            </a:pPr>
            <a:r>
              <a:t>Core deployment path is in place; production hardening and broader validation remain.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3492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0">
                <a:solidFill>
                  <a:srgbClr val="566C5F"/>
                </a:solidFill>
                <a:latin typeface="Aptos"/>
              </a:defRPr>
            </a:pPr>
            <a:r>
              <a:t>System behavior  •  four-class probabilities → confidence gate → accepted prediction → structured plant-health information → user interaction.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5D3B"/>
                </a:solidFill>
                <a:latin typeface="Aptos Display"/>
              </a:defRPr>
            </a:pPr>
            <a:r>
              <a:t>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56032"/>
            <a:ext cx="1920240" cy="347472"/>
          </a:xfrm>
          <a:prstGeom prst="roundRect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274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C5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7589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C5F"/>
                </a:solidFill>
                <a:latin typeface="Aptos"/>
              </a:defRPr>
            </a:pPr>
            <a:r>
              <a:t>Actionable priorities based on the notebook's evaluation and deployment findings.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353312"/>
            <a:ext cx="658368" cy="658368"/>
          </a:xfrm>
          <a:prstGeom prst="ellipse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261872"/>
            <a:ext cx="406908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Strengthen the Blight ↔ Gray Leaf Spot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664207"/>
            <a:ext cx="406908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900" b="0">
                <a:solidFill>
                  <a:srgbClr val="123728"/>
                </a:solidFill>
                <a:latin typeface="Aptos"/>
              </a:defRPr>
            </a:pPr>
            <a:r>
              <a:t>Add representative images and continue targeted error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82512" y="1353312"/>
            <a:ext cx="658368" cy="658368"/>
          </a:xfrm>
          <a:prstGeom prst="ellipse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2372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1261872"/>
            <a:ext cx="406908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Expand the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1664207"/>
            <a:ext cx="406908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900" b="0">
                <a:solidFill>
                  <a:srgbClr val="123728"/>
                </a:solidFill>
                <a:latin typeface="Aptos"/>
              </a:defRPr>
            </a:pPr>
            <a:r>
              <a:t>Collect diverse field images across lighting, backgrounds, cameras and disease stages.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39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2862072"/>
            <a:ext cx="658368" cy="658368"/>
          </a:xfrm>
          <a:prstGeom prst="ellipse">
            <a:avLst/>
          </a:prstGeom>
          <a:solidFill>
            <a:srgbClr val="D9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2770632"/>
            <a:ext cx="406908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Keep uncertainty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3172968"/>
            <a:ext cx="406908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900" b="0">
                <a:solidFill>
                  <a:srgbClr val="123728"/>
                </a:solidFill>
                <a:latin typeface="Aptos"/>
              </a:defRPr>
            </a:pPr>
            <a:r>
              <a:t>Retain confidence thresholds so low-confidence outputs are surfaced as uncertain.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606039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82512" y="2862072"/>
            <a:ext cx="658368" cy="658368"/>
          </a:xfrm>
          <a:prstGeom prst="ellipse">
            <a:avLst/>
          </a:prstGeom>
          <a:solidFill>
            <a:srgbClr val="105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2770632"/>
            <a:ext cx="406908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Validate in the field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3172968"/>
            <a:ext cx="406908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900" b="0">
                <a:solidFill>
                  <a:srgbClr val="123728"/>
                </a:solidFill>
                <a:latin typeface="Aptos"/>
              </a:defRPr>
            </a:pPr>
            <a:r>
              <a:t>Test beyond the held-out dataset and monitor performance after deployment.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148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F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370832"/>
            <a:ext cx="658368" cy="658368"/>
          </a:xfrm>
          <a:prstGeom prst="ellipse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2372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4279392"/>
            <a:ext cx="406908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1300" b="1">
                <a:solidFill>
                  <a:srgbClr val="105D3B"/>
                </a:solidFill>
                <a:latin typeface="Aptos"/>
              </a:defRPr>
            </a:pPr>
            <a:r>
              <a:t>Improve explainability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4681728"/>
            <a:ext cx="4069080" cy="4754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defRPr sz="900" b="0">
                <a:solidFill>
                  <a:srgbClr val="123728"/>
                </a:solidFill>
                <a:latin typeface="Aptos"/>
              </a:defRPr>
            </a:pPr>
            <a:r>
              <a:t>Explore tools such as Grad-CAM to show which leaf regions influence predictions.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6473952"/>
            <a:ext cx="11369039" cy="13716"/>
          </a:xfrm>
          <a:prstGeom prst="rect">
            <a:avLst/>
          </a:prstGeom>
          <a:solidFill>
            <a:srgbClr val="E7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C5F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5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731520"/>
            <a:ext cx="1188720" cy="1188720"/>
          </a:xfrm>
          <a:prstGeom prst="ellipse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754880"/>
            <a:ext cx="1463040" cy="1463040"/>
          </a:xfrm>
          <a:prstGeom prst="ellipse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94960" y="2011680"/>
            <a:ext cx="822960" cy="822960"/>
          </a:xfrm>
          <a:prstGeom prst="ellipse">
            <a:avLst/>
          </a:prstGeom>
          <a:solidFill>
            <a:srgbClr val="ABE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2148840"/>
            <a:ext cx="6309360" cy="1097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3246120"/>
            <a:ext cx="594360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400" b="1">
                <a:solidFill>
                  <a:srgbClr val="ABE237"/>
                </a:solidFill>
                <a:latin typeface="Aptos"/>
              </a:defRPr>
            </a:pPr>
            <a:r>
              <a:t>Plant Health AI  •  Maize Disease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794760"/>
            <a:ext cx="594360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Earlier identification  •  Better-informed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